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Manual do Utilizador da Plataforma Jurídica ALCv, versão 1.0, Setembro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geral, agrupado em cinco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Parte I — Fundamentos.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1 do manual — pilares fundamentais: multi-tenancy, segurança, armazenamento e adequação ao direito cabo-verdiano.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2.1. Três passos de acesso. O ecrã de login é a porta de entrada única da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2.2. Políticas de senha e o modelo de sessão por cookie httpOnly.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3. A matriz RBAC é a fronteira primária de autorização, a par do isolamento por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3. Os quatro papéis seeded e as suas competências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3. Demonstração prática da recusa de acesso imposta pelo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Parte II — Operação Diária.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4.1. Os quatro KPIs de topo dão a leitura imediata do estado do escritório.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Secções 4.2 e 4.3 do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5.1. O módulo suporta pessoas singulares (Particulares) e coletivas (Empresas).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5.2. Campos obrigatórios e opcionais no registo de um constituinte.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5.3. As quatro secções da ficha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5.4. Casos típicos: o mesmo cliente inserido por assistentes diferentes sob nomes ligeiramente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Parte III — Processos Judiciais.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6.1. O módulo reflete a praxe processual civil, penal e laboral de Cabo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6.2. A verificação de conflito é obrigatória e precede a abertura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6.2, etapa 2. Três resultados possíveis da verificação de conflito.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6.3. Vista principal do processo, a partir da qual se acede aos oito separadores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6.3. Os oito separadores do ambiente de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 do manual — Separadores timeline e partes.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 do manual — Separadores fases e decisoes.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 do manual — Separadores factos e testemunhas.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 do manual — Separadores documentos 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6.3, separador de fases. Oito fases da tramitação.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6.4. A dependência do módulo financeiro é intencional — impede termos sem valor acordado.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6.5. Vista de gestão, distinta da vista operacional de cada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7.1. A agenda existe para mitigar o principal risco da prática forense: a perda de prazos perentórios.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7.2. Campos do formulário de novo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Parte IV — Suporte Documental e Financeiro.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8. Os ficheiros vivem em MinIO (S3-compatible), servidos por URLs pré-assinados com expiração.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9. Moeda nacional: Escudo cabo-verdiano, CVE, símbolo $.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9. Sem este lançamento, o termo de honorários da secção 6.4 não pode ser gerado.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10. Fluxo de trabalho do parecer, em quatro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da Parte V — Administração 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12. Funcionalidades de gestão disponíveis ao administrador do escritório.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13. Cenário simulado: sociedade, cliente e processo, com próxima audiência agendada com prazo fatal 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035040" cy="603504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005840"/>
            <a:ext cx="4023360" cy="4023360"/>
          </a:xfrm>
          <a:prstGeom prst="ellipse">
            <a:avLst/>
          </a:prstGeom>
          <a:solidFill>
            <a:srgbClr val="070D18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do Utilizador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700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Jurídica de Gestão Forense — Cabo Verde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1371600" cy="27432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6393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dos módulos operacionais — clientes, processos judiciais,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forense, gestão documental, financeiro e administração.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Edição Oficial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38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5138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www.alcv.tech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229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5522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070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59070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· Advogados · Técnicos · Assistentes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manual cobre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54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993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Visão Geral e Enquadramento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Acesso, Autenticação e Segurança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615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Perfis de Utilizador e Matriz RBAC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218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Diária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Institucional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Gestão de Clientes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5371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537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45720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Processos Judiciais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010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Gestão de Processos Judiciais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321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Agenda Forense e Prazos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1536192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15361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1554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Documental e Financeiro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1993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Gestão Documental (MinIO / S3)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68312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Financeiro e Honorários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2615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Pareceres Jurídicos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3200400"/>
            <a:ext cx="475488" cy="347472"/>
          </a:xfrm>
          <a:prstGeom prst="roundRect">
            <a:avLst>
              <a:gd name="adj" fmla="val 15789"/>
            </a:avLst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2004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3218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e Prática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Central de Notificações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068312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Definições e Administração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4279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Cenário Simulado Completo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005840"/>
            <a:ext cx="4754880" cy="475488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 da plataforma, forma de acesso e o modelo de permissões que governa tudo o que cada utilizador pode ver e fazer.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Visão Geral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Acesso e Segurança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Perfis e RBAC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1 · VISÃO GERAL E ENQUADRAMENTO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pilares sustentam a plataforma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ALCv é uma plataforma integrada de gestão forense desenhada para a realidade de Cabo Verde, cobrindo a tramitação nos tribunais de comarca, tribunais de relação e Supremo Tribunal de Justiça.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70048" cy="1975612"/>
          </a:xfrm>
          <a:prstGeom prst="roundRect">
            <a:avLst>
              <a:gd name="adj" fmla="val 2314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395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33472"/>
            <a:ext cx="2194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Estrito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140456"/>
            <a:ext cx="2194560" cy="8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sociedade opera num ambiente com dados, clientes e documentos completamente isolados, por partição lógica de tenant_id.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83864" y="2194560"/>
            <a:ext cx="2670048" cy="1975612"/>
          </a:xfrm>
          <a:prstGeom prst="roundRect">
            <a:avLst>
              <a:gd name="adj" fmla="val 2314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21608" y="2395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721608" y="2633472"/>
            <a:ext cx="2194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Bancário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3140456"/>
            <a:ext cx="2194560" cy="8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tokens JWT em cookies httpOnly com proteção SameSite=Lax, prevenindo XSS e extração de credenciais via JavaScript.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19088" y="2194560"/>
            <a:ext cx="2670048" cy="1975612"/>
          </a:xfrm>
          <a:prstGeom prst="roundRect">
            <a:avLst>
              <a:gd name="adj" fmla="val 2314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56832" y="2395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633472"/>
            <a:ext cx="2194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Conforme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3140456"/>
            <a:ext cx="2194560" cy="8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processuais guardadas em MinIO (S3-compatible), com acesso exclusivo por URLs pré-assinados de validade temporária.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54312" y="2194560"/>
            <a:ext cx="2670048" cy="1975612"/>
          </a:xfrm>
          <a:prstGeom prst="roundRect">
            <a:avLst>
              <a:gd name="adj" fmla="val 2314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92056" y="2395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592056" y="2633472"/>
            <a:ext cx="21945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Cabo-Verdiano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592056" y="3140456"/>
            <a:ext cx="2194560" cy="8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Terminologia, prazos e comarcas locais, NIF de 9 dígitos, CNI/BI e moeda nacional em Escudos (CVE, símbolo $).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47488"/>
            <a:ext cx="1097280" cy="2286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669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pilares não são opcionais nem configuráveis: são a base sobre a qual todos os módulos seguintes assentam.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2.1 · ACESSO À PLATAFORMA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Ecrã de autenticação institucional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93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navegador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653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 ou Safari em versão atual.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Introduza o endereço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0662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https://www.alcv.tech, ou o subdomínio atribuído ao seu escritório.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Autentique-se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5478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profissional registado e palavra-passe definida no convite inicial.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4160520" cy="1325880"/>
          </a:xfrm>
          <a:prstGeom prst="roundRect">
            <a:avLst>
              <a:gd name="adj" fmla="val 3448"/>
            </a:avLst>
          </a:prstGeom>
          <a:solidFill>
            <a:srgbClr val="1E2B45"/>
          </a:solidFill>
          <a:ln w="15875">
            <a:solidFill>
              <a:srgbClr val="8FB4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480560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EXEMPLO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736592"/>
            <a:ext cx="3685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Utilizador: admin@alcv.cv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Palavra-passe: definida no convite ou na configuração inicial do escritório.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0" descr="/home/user/lexcv/docs/image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 de login inicial — autenticação por email profissional e palavra-passe.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2.2 · CREDENCIAIS E BOAS PRÁTICAS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de palavra-passe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04288"/>
            <a:ext cx="3593592" cy="1434592"/>
          </a:xfrm>
          <a:prstGeom prst="roundRect">
            <a:avLst>
              <a:gd name="adj" fmla="val 3187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250545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743200"/>
            <a:ext cx="3118104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partilhe a sua senha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033268"/>
            <a:ext cx="311810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 comunique a terceiros nem a guarde em notas desprotegidas ou ficheiros sem cifra.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43984" y="2304288"/>
            <a:ext cx="3593592" cy="1434592"/>
          </a:xfrm>
          <a:prstGeom prst="roundRect">
            <a:avLst>
              <a:gd name="adj" fmla="val 3187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81728" y="250545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DETEÇÃO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743200"/>
            <a:ext cx="3118104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e auditoria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3033268"/>
            <a:ext cx="311810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bloqueia o acesso após múltiplas tentativas falhadas e regista anomalias de IP nos logs de auditoria.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39328" y="2304288"/>
            <a:ext cx="3593592" cy="1434592"/>
          </a:xfrm>
          <a:prstGeom prst="roundRect">
            <a:avLst>
              <a:gd name="adj" fmla="val 3187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77072" y="2505456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743200"/>
            <a:ext cx="3118104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periódica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33268"/>
            <a:ext cx="311810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 a senha regularmente em Definições › O Meu Perfil, respeitando os padrões de robustez exigidos.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11064240" cy="1188720"/>
          </a:xfrm>
          <a:prstGeom prst="roundRect">
            <a:avLst>
              <a:gd name="adj" fmla="val 3846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389120"/>
            <a:ext cx="10588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645152"/>
            <a:ext cx="10588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é feito exclusivamente por JWT em cookies httpOnly. Não existem tokens acessíveis a JavaScript no navegador — o que elimina a classe de ataques que extrai credenciais a partir do código da página. Qualquer tentativa de acesso a uma área sem permissão é recusada pelo servidor, não apenas escondida no interface.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3 · PERFIS E PERMISSÕES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Controlo de acesso baseado em papéis (RBAC)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93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por módulo e ação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653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permissão segue a convenção scope:action — por exemplo clientes:view ou processos:edit.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papéis de base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340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ADVOGADO, TECNICO e ASSISTENTE, atribuíveis por utilizador do escritório.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467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nas duas camadas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6027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interface esconde o que não é permitido; o servidor recusa o pedido de forma independente.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1E2B45"/>
          </a:solidFill>
          <a:ln w="15875">
            <a:solidFill>
              <a:srgbClr val="8FB4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55371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809744"/>
            <a:ext cx="36850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ADMIN tem as permissões totais bloqueadas por omissão, para impedir que o escritório se tranque a si próprio fora do sistema.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0" descr="/home/user/lexcv/docs/images/20c_rbac_permiss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regras de acesso — permissões por módulo e ação, geríveis pelo administrador.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3 · PAPÉIS DISPONÍVEIS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 no escritório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60448"/>
            <a:ext cx="5394960" cy="1272540"/>
          </a:xfrm>
          <a:prstGeom prst="roundRect">
            <a:avLst>
              <a:gd name="adj" fmla="val 3593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2261616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99360"/>
            <a:ext cx="4919472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do Escritório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789428"/>
            <a:ext cx="49194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 e incondicional: configurações do escritório, gestão de equipa e matriz RBAC.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060448"/>
            <a:ext cx="5394960" cy="1272540"/>
          </a:xfrm>
          <a:prstGeom prst="roundRect">
            <a:avLst>
              <a:gd name="adj" fmla="val 3593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55664" y="2261616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55664" y="2499360"/>
            <a:ext cx="4919472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Forense / Associado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789428"/>
            <a:ext cx="49194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processos, condução de peças, representação em tribunal, audiências, pareceres e termos de honorários.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89020"/>
            <a:ext cx="5394960" cy="1272540"/>
          </a:xfrm>
          <a:prstGeom prst="roundRect">
            <a:avLst>
              <a:gd name="adj" fmla="val 3593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86384" y="37901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027932"/>
            <a:ext cx="4919472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Jurídico / Solicitador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318000"/>
            <a:ext cx="49194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processos, acompanhamento de prazos, registo de diligências na agenda e consulta do arquivo.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589020"/>
            <a:ext cx="5394960" cy="1272540"/>
          </a:xfrm>
          <a:prstGeom prst="roundRect">
            <a:avLst>
              <a:gd name="adj" fmla="val 3593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55664" y="37901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4027932"/>
            <a:ext cx="4919472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Secretariado / Apoio Administrativo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318000"/>
            <a:ext cx="4919472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inicial de clientes (intake), atendimento, anexação de comprovativos e consulta geral da agenda.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68112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5632704"/>
            <a:ext cx="10588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5888736"/>
            <a:ext cx="10588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∈ { view, create, edit, manage } — manage implica edit, que implica create; todos implicam view.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3 · RBAC NA PRÁTICA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sem permissão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verificação não é cosmética. Quando um utilizador tenta alcançar uma área fora do seu âmbito — por link direto, por URL colado ou por engano — o pedido é recusado no servidor e o interface apresenta uma recusa explícita, em vez de devolver dados parciais.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4160520" cy="2011680"/>
          </a:xfrm>
          <a:prstGeom prst="roundRect">
            <a:avLst>
              <a:gd name="adj" fmla="val 2273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377647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ISTO IMPORTA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4032504"/>
            <a:ext cx="36850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escritório de advogados o sigilo profissional não é uma preferência de configuração. Recusar no servidor garante que nenhuma peça, cliente ou valor de honorário chega a sair da base de dados para quem não o pode 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home/user/lexcv/docs/images/22_platafo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de acesso à consola de administração para um utilizador sem o âmbito exigido.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005840"/>
            <a:ext cx="4754880" cy="475488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Diária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de comando que abre todos os dias e o ciclo de vida dos constituintes do escritório, de particulares a pessoas coletivas.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Gestão de 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4 · DASHBOARD INSTITUCIONAL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centro de comando diário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institucional — indicadores em tempo real, prazos urgentes e processos recentes.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276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Indicadores-chave (KPIs superiores)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208483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0482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3042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clientes com processos ou serviços vigentes, com variação mensal.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52360" y="290779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8712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em Curso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1272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judiciais e procedimentos extrajudiciais ativos.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52360" y="373075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523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694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Próximos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395020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perentórios e audiências nos próximos 7 dias — a vermelho quando urgente.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2360" y="455371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5236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5171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Honorários do Mês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477316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faturado e liquidado no mês corrente, em Escudos (CVE).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4.2 E 4.3 · MONITOR EXECUTIVO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Prazos urgentes e trilha de atividade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2b_dashboard_compl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inferior do dashboard — prazos urgentes, processos recentes e atividade da equipa.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173736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17007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Prazos Urgentes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195681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em contagem decrescente os atos que exigem intervenção prioritária, com salto direto para a agenda forense.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6974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660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Recentes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9169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processos movimentados e o respetivo estado: ATIVO, EM TRIAGEM ou CONCLUÍDO.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6576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5236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36210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Recente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8770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submetidos, fases alteradas e eventos concluídos por cada membro da equipa.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52360" y="4846320"/>
            <a:ext cx="4160520" cy="1325880"/>
          </a:xfrm>
          <a:prstGeom prst="roundRect">
            <a:avLst>
              <a:gd name="adj" fmla="val 3448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90104" y="501091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RECOMENDADA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690104" y="5266944"/>
            <a:ext cx="3685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dashboard no início do dia e tratar primeiro os prazos urgentes é a prática que melhor mitiga o risco central do escritório: perder um prazo perentório.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5.1 · GESTÃO DE CLIENTES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Listagem e filtros de clientes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3_clientes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geral de clientes, com pesquisa rápida, filtros e ações por linha.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276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rápidas por linha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208483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0482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detalhe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3042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página completa do cliente e ao seu histórico.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52360" y="2889504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8529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ficha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10896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a ficha cadastral formatada para arquivo físico ou dossiê.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52360" y="3694176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5236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657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391363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contactos e morada do constituinte.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2360" y="4498848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5236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462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471830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para utilizadores autorizados e sem dependências ativas.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52360" y="5413248"/>
            <a:ext cx="4160520" cy="731520"/>
          </a:xfrm>
          <a:prstGeom prst="roundRect">
            <a:avLst>
              <a:gd name="adj" fmla="val 6250"/>
            </a:avLst>
          </a:prstGeom>
          <a:solidFill>
            <a:srgbClr val="1E2B45"/>
          </a:solidFill>
          <a:ln w="15875">
            <a:solidFill>
              <a:srgbClr val="8FB4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90104" y="5577840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690104" y="5833872"/>
            <a:ext cx="3685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nome, email, telefone ou NIF cabo-verdiano.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5.2 · REGISTO DE NOVO CLIENTE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do formulário de intake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4_clientes_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registo — acessível pelo botão «+ Adicionar Novo Cliente».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1645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Cliente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1874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 ou Empresa.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/ Razão Social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450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Maria João Gonçalves, ou Mindelo Marítima, SA.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871216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30266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dígitos, conforme a DNRE.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47288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3741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e Email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" y="36027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notificações e avisos de audiência.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023360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" y="39502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 e Morada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4178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 e concelho — ex.: Achada Santo António, Praia.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4599432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4526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Documento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47548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CNI, BI, Passaporte ou Certidão de Registo Comercial.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5175504"/>
            <a:ext cx="91440" cy="91440"/>
          </a:xfrm>
          <a:prstGeom prst="rect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5102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de Atividade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5330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adicional de apoio ao atendimento.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5.3 · FICHA DO CLIENTE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Dossiê oficial e visão de detalhe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5b_cliente_fi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oficial do cliente, formatada para impressão e arquivo em dossiê.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home/user/lexcv/docs/images/05_cliente_detal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do cliente com separadores e posição de conta-corrente.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e Contactos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fiscais e residenciais validados.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374136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Conta-Corrente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374136" y="5760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em Escudos (CVE / $).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Procuração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5760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visual quando ainda não assinada ou digitalizada.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025128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Responsáveis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025128" y="5760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Patrono e equipa jurídica encarregue do constituinte.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5.4 · UNIFICAÇÃO DE REGISTOS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de clientes duplicados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093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Cliente Principal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653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registo que manterá os dados de contacto oficiais.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Cliente Duplicado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0662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processos, honorários e histórico serão migrados para o principal.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a operação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5478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referências cruzadas são atualizadas atomicamente na base de dados.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4160520" cy="1325880"/>
          </a:xfrm>
          <a:prstGeom prst="roundRect">
            <a:avLst>
              <a:gd name="adj" fmla="val 3448"/>
            </a:avLst>
          </a:prstGeom>
          <a:solidFill>
            <a:srgbClr val="1E2B45"/>
          </a:solidFill>
          <a:ln w="15875">
            <a:solidFill>
              <a:srgbClr val="E06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480560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— OPERAÇÃO IRREVERSÍVEL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736592"/>
            <a:ext cx="3685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confirmação o registo duplicado é removido em definitivo. Verifique a seleção antes de confirmar.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0" descr="/home/user/lexcv/docs/images/06_clientes_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merge — consolida o histórico de registos criados em duplicado.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005840"/>
            <a:ext cx="4754880" cy="475488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Processos Judiciais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operacional da plataforma: abertura com verificação de conflito de interesses, tramitação em separadores e a agenda que protege os prazos.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Processos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Agenda Forense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6.1 · CARTEIRA FORENSE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Listagem de processos judiciais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7_processos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de processos — a carteira forense completa do escritório.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 Processo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19110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judicial atribuído pelo tribunal, data de entrada e advogado responsável.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5603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523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Tribunal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7797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Constituinte e comarca — ex.: Tribunal da Comarca da Praia.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4290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523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3392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Jurídica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6484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Cível, Penal, Laboral, Família ou Fiscal/Aduaneiro.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52360" y="42976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523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261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5171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dinâmicos: ATIVO, EM TRIAGEM, SUSPENSO ou ENCERRADO.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6.2 · ABERTURA DE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em três etapas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8_processos_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do assistente de abertura — recolha de dados de intake.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160520" cy="1188720"/>
          </a:xfrm>
          <a:prstGeom prst="roundRect">
            <a:avLst>
              <a:gd name="adj" fmla="val 384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8096" y="1792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01168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2267712"/>
            <a:ext cx="3721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tipo de processo e origem (petição inicial, notificação avulsa, distribuição externa), tribunal, área jurídica, datas e descrição da pretensão.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4160520" cy="1188720"/>
          </a:xfrm>
          <a:prstGeom prst="roundRect">
            <a:avLst>
              <a:gd name="adj" fmla="val 384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68096" y="3163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338328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3639312"/>
            <a:ext cx="3721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deontológica automática de conflito de interesses, com decisão de um advogado ou administrador.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389120"/>
            <a:ext cx="4160520" cy="1188720"/>
          </a:xfrm>
          <a:prstGeom prst="roundRect">
            <a:avLst>
              <a:gd name="adj" fmla="val 384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68096" y="4535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68096" y="475488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Formal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" y="5010912"/>
            <a:ext cx="3721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concluído, atribuição do número interno e notificação à equipa.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6.2 · CONFLICT 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deontológica de conflito de interesses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817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analisa automaticamente se a parte contrária ou os intervenientes já constam como clientes do escritório, ou figuram em processos com pretensões incompatíveis. O decisor qualificado — advogado ou administrador — avalia o resultado e emite uma de três decisões.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474720" cy="2468880"/>
          </a:xfrm>
          <a:prstGeom prst="roundRect">
            <a:avLst>
              <a:gd name="adj" fmla="val 1852"/>
            </a:avLst>
          </a:prstGeom>
          <a:solidFill>
            <a:srgbClr val="18233A"/>
          </a:solidFill>
          <a:ln w="15875">
            <a:solidFill>
              <a:srgbClr val="57C08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3408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786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CONFLITO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18211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obsta à constituição de mandato. O processo segue para abertura formal.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139696"/>
            <a:ext cx="3474720" cy="2468880"/>
          </a:xfrm>
          <a:prstGeom prst="roundRect">
            <a:avLst>
              <a:gd name="adj" fmla="val 1852"/>
            </a:avLst>
          </a:prstGeom>
          <a:solidFill>
            <a:srgbClr val="18233A"/>
          </a:solidFill>
          <a:ln w="15875">
            <a:solidFill>
              <a:srgbClr val="D4A9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62856" y="23408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5786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CONFLITO SANÁVEL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318211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sobreposição que pode ser ultrapassada — por exemplo com consentimento informado das partes envolvidas.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139696"/>
            <a:ext cx="3474720" cy="2468880"/>
          </a:xfrm>
          <a:prstGeom prst="roundRect">
            <a:avLst>
              <a:gd name="adj" fmla="val 1852"/>
            </a:avLst>
          </a:prstGeom>
          <a:solidFill>
            <a:srgbClr val="18233A"/>
          </a:solidFill>
          <a:ln w="15875">
            <a:solidFill>
              <a:srgbClr val="E06A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39328" y="23408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E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5786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IMPEDITIVO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18211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formalização do processo é automaticamente bloqueada pelo sistema. O escritório não pode aceitar o mandato.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1E2B45"/>
          </a:solidFill>
          <a:ln w="15875">
            <a:solidFill>
              <a:srgbClr val="E06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5029200"/>
            <a:ext cx="10588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5285232"/>
            <a:ext cx="105887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Assinalado um conflito de nível impeditivo, a formalização do processo é bloqueada pelo sistema — não é uma recomendação que o utilizador possa contornar.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AMBIENTE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do processo e conflict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_processo_detal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do processo — bloco de dados e resultado homologado do conflict check.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de Dados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19110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tipo, área jurídica, tribunal, juízo, origem, cliente, estado e datas de início e fim.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5603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523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e Retenção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7797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de retenção legal e respetiva data, para efeitos de conservação probatória.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4290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523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3392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 Homologado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6484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Nível, decisor e data da decisão ficam visíveis de forma permanente no processo.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52360" y="42976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523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4261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Termo de Honorários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5171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direta na barra do processo — ver secção 6.4.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ESTRUTURA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oito separadores operacionais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um processo, o utilizador dispõe de um ambiente de trabalho com oito separadores de controlo, cada um responsável por uma dimensão da tramitação.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TAB=TIMELINE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4086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Unificada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1686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cronológico auditável de movimentações, juntadas, alterações de fase, despachos e audiências.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83864" y="190195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21608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TAB=PARTES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721608" y="234086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Partes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81686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Autor/requerente, réu/requerido, terceiros intervenientes e advogados contrários.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19088" y="190195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56832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TAB=FASES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34086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Processuais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281686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do processo ao longo das fases do Código de Processo Civil ou Penal.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54312" y="190195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92056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TAB=DECISOES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592056" y="234086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592056" y="281686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Despachos, sentenças e acórdãos, com anexação do ficheiro digitalizado em PDF.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1109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6384" y="41122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TAB=FACTOS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435000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Factos Relevantes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82600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Cronologia dos factos controvertidos e provados, para organizar a matéria de facto.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83864" y="391109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721608" y="41122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TAB=TESTEMUNHAS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721608" y="435000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Testemunhas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482600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Testemunhas próprias e arroladas pela contraparte, com contactos e resumo do depoimento.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19088" y="391109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656832" y="41122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TAB=DOCUMENTOS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656832" y="435000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do Processo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482600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Peças, procurações com poderes forenses, certidões e comprovativos de taxa de justiça.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54312" y="3911092"/>
            <a:ext cx="2670048" cy="1753108"/>
          </a:xfrm>
          <a:prstGeom prst="roundRect">
            <a:avLst>
              <a:gd name="adj" fmla="val 2608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592056" y="41122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TAB=AUDITORIA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592056" y="4350004"/>
            <a:ext cx="21945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592056" y="4826000"/>
            <a:ext cx="219456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imutável de criações, edições, anexações e transições de estado.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SEPARADORES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e Partes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_tab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feed cronológico do processo.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Unificada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conflict check e movimentações, com filtros por tipo e intervalo de datas.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home/user/lexcv/docs/images/09_tab_par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— intervenientes do litígio.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Partes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Autor, réu e mandatários da contraparte, cada um com tipo e NIF.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SEPARADORES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e Decisões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_tab_f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— estado da tramitação.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Processuais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com estado editável, guardado individualmente.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home/user/lexcv/docs/images/09_tab_decis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— despachos e sentenças.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tipo e resumo de cada decisão, com anexação do PDF digitalizado.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SEPARADORES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Factos e Testemunhas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_tab_fa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Factos — cronologia da matéria de facto.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Factos Relevantes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Factos datados e ordenados, para sustentar a argumentação em audiência.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home/user/lexcv/docs/images/09_tab_testemunh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Testemunhas — rol do processo.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Testemunhas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Testemunhas de cada lado, com contacto e resumo do depoimento.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SEPARADORES DO PROCESSO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e Auditoria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_tab_docu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— peças do processo, com versionamento (v1/v2).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do Processo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Peças, procurações e comprovativos, com tipo, confidencialidade, versão e tamanho.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46304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home/user/lexcv/docs/images/09_tab_audito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10921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— registo imutável de operações.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7424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operação, entidade afetada e autor de cada alteração.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6.3 · FASES PROCESSUAIS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Tramitação segundo o Código de Processo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separador de fases acompanha o estado do processo ao longo da tramitação, desde a distribuição até à fase de recursos.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21284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7249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200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no tribunal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74136" y="201168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21284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7249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/ Notificação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200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Chamamento das partes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221284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7249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Articulados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3200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Contestação, réplica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5128" y="201168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4584" y="221284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458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27249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 Prévia e Saneamento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3200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Delimitação do litígio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" y="413308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" y="464515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 e Produção de Prova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5120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 e exame de prova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74136" y="393192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93592" y="413308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93592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64515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Julgamento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93592" y="5120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e julgamento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393192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19088" y="413308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464515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 / Decisão Final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19088" y="5120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do tribunal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25128" y="3931920"/>
            <a:ext cx="2615184" cy="1627632"/>
          </a:xfrm>
          <a:prstGeom prst="roundRect">
            <a:avLst>
              <a:gd name="adj" fmla="val 2809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44584" y="4133088"/>
            <a:ext cx="402336" cy="402336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44584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44584" y="464515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244584" y="5120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Reapreciação superior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6.4 · TERMO DE HONORÁRIOS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Emissão do documento contratual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09b_processo_termo_honor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do termo de honorários a partir da barra de ações do processo.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«Gerar Termo de Honorários» emite o documento contratual de prestação de serviços jurídicos, para assinatura com o constituinte.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4160520" cy="2148840"/>
          </a:xfrm>
          <a:prstGeom prst="roundRect">
            <a:avLst>
              <a:gd name="adj" fmla="val 2128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272491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MANDATÓRIA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2980944"/>
            <a:ext cx="368503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valor dos honorários ainda não tiver sido lançado no módulo financeiro, o sistema avisa: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 valor dos honorários ainda não foi preenchido. Preencha o valor em Financeiro antes de gerar o termo.»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646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se garante que nenhum documento vinculativo é impresso sem os valores devidamente acordados.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6.5 · DASHBOARD DE PROCESSOS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 e carga processual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0_processo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operacional, acessível em Processos › Dashboard.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52360" y="17830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523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17465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Críticos (&lt; 7 dias)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0025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com prazos iminentes que necessitam de peça urgente.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7066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Inativos (&gt; 30 dias)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9626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paradas sem movimentação, que requerem contacto com a secretaria judicial.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7033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5236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3666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por Responsável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9227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 carga de trabalho entre advogados e associados do escritório.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52360" y="4937760"/>
            <a:ext cx="4160520" cy="1005840"/>
          </a:xfrm>
          <a:prstGeom prst="roundRect">
            <a:avLst>
              <a:gd name="adj" fmla="val 4545"/>
            </a:avLst>
          </a:prstGeom>
          <a:solidFill>
            <a:srgbClr val="1E2B45"/>
          </a:solidFill>
          <a:ln w="15875">
            <a:solidFill>
              <a:srgbClr val="8FB4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90104" y="510235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EXECUTIVO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690104" y="5358384"/>
            <a:ext cx="3685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vista indicada para a reunião semanal de equipa: mostra onde está o risco e como está distribuído o trabalho.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7.1 · AGENDA FORENSE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mensal e código de cores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1_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forense institucional — vista mensal com eventos categorizados por cor.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276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Categorização visual dos eventos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2130552"/>
            <a:ext cx="237744" cy="237744"/>
          </a:xfrm>
          <a:prstGeom prst="ellipse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36408" y="210312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Críticos / Fatais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36408" y="235915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Contestações, recursos, alegações, pagamento de custas.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52360" y="2999232"/>
            <a:ext cx="237744" cy="237744"/>
          </a:xfrm>
          <a:prstGeom prst="ellipse">
            <a:avLst/>
          </a:prstGeom>
          <a:solidFill>
            <a:srgbClr val="5A8FE0"/>
          </a:solidFill>
          <a:ln w="12700">
            <a:solidFill>
              <a:srgbClr val="5A8F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36408" y="297180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836408" y="322783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Julgamentos, inquirições de testemunhas, tentativas de conciliação.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3867912"/>
            <a:ext cx="237744" cy="237744"/>
          </a:xfrm>
          <a:prstGeom prst="ellipse">
            <a:avLst/>
          </a:prstGeom>
          <a:solidFill>
            <a:srgbClr val="E0913F"/>
          </a:solidFill>
          <a:ln w="12700">
            <a:solidFill>
              <a:srgbClr val="E0913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36408" y="384048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Diligências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836408" y="409651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Conservatórias, cartórios, ministério público, Polícia Nacional.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52360" y="4736592"/>
            <a:ext cx="237744" cy="237744"/>
          </a:xfrm>
          <a:prstGeom prst="ellipse">
            <a:avLst/>
          </a:prstGeom>
          <a:solidFill>
            <a:srgbClr val="57C08A"/>
          </a:solidFill>
          <a:ln w="12700">
            <a:solidFill>
              <a:srgbClr val="57C0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36408" y="470916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836408" y="496519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jurídicas presenciais ou virtuais com clientes.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7.2 · MARCAÇÃO DE EVENTO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Prazos fatais, audiências e diligências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2_agenda_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agendamento, aberto pelo botão «+ Novo Evento».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a Processo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9110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 o evento ao número judicial e ele aparece na timeline do processo.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523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7797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como BAIXA, MÉDIA ou ALTA.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392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Hora de Início e Fim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484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temporal com notificações automáticas.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261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5171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reuniões de acompanhamento ou avenças com periodicidade fixa.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138928"/>
            <a:ext cx="4160520" cy="987552"/>
          </a:xfrm>
          <a:prstGeom prst="roundRect">
            <a:avLst>
              <a:gd name="adj" fmla="val 4630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5303520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5559552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sempre ao processo — é o que mantém a timeline completa.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005840"/>
            <a:ext cx="4754880" cy="475488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Documental e Financeiro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eletrónico das peças forenses, a gestão de honorários e conta-corrente em Escudos, e o circuito de pareceres jurídicos.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Documentos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Financeiro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Pareceres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8 · GESTÃO DOCUMENTAL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central e upload de peças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3_docu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central de documentos do escritório.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home/user/lexcv/docs/images/14_documentos_no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upload, com classificação e campo de versionamento.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e Largar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ficheiros PDF, Word ou imagens com facilidade.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374136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374136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cada ficheiro como Público ou Restrito.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Seguro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«ID a substituir» envia uma versão corrigida sem apagar o histórico.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025128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em Objeto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025128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gravado no disco do servidor web — só URLs temporários.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9 · FINANCEIRO E HONORÁRIOS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de controlo e conta-corrente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5_financei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financeiro — faturação, recebimentos e dívida em Escudos (CVE).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276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de resumo financeiro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208483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0482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Faturado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3042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global de honorários contratualizados.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52360" y="290779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5236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8712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Recebido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31272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liquidado pelos clientes — numerário ou transferência (Vinti4, BCA, BCN).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52360" y="373075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523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3694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Dívida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395020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devedor pendente de regularização.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2360" y="4553712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5236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5171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do Mês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477316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 e recebimentos no período de referência.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9 · ACORDO DE HONORÁRIOS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Lançamento de um novo honorário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6_financeiro_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honorário associado a um processo.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› + Novo Honorário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9110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entrada único para acordos de honorários.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532888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496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processo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75234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honorário fica vinculado ao processo correspondente.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374136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337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 valor total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5935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250.000$00 CVE.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215384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178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a data do acordo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43484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as condições de parcelamento no campo de descrição.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138928"/>
            <a:ext cx="4160520" cy="841248"/>
          </a:xfrm>
          <a:prstGeom prst="roundRect">
            <a:avLst>
              <a:gd name="adj" fmla="val 5435"/>
            </a:avLst>
          </a:prstGeom>
          <a:solidFill>
            <a:srgbClr val="1E2B45"/>
          </a:solidFill>
          <a:ln w="15875">
            <a:solidFill>
              <a:srgbClr val="8FB4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5303520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PARCELAMENTO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555955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«50% na entrada da petição, 50% na data da audiência de julgamento.»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10 · PARECERES JURÍDICOS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Consultoria e emissão de pareceres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7_parece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e gestão de pareceres jurídicos.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home/user/lexcv/docs/images/18_pareceres_no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de nova solicitação de parecer.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5431536"/>
            <a:ext cx="292608" cy="29260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950976" y="543153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do Pedido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50976" y="5687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ou advogado regista a solicitação: cliente, questão jurídica e prazo.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74136" y="5431536"/>
            <a:ext cx="292608" cy="29260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374136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776472" y="543153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776472" y="5687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do advogado especialista responsável pela pesquisa e redação.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99632" y="5431536"/>
            <a:ext cx="292608" cy="29260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99632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601968" y="543153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e Revisão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601968" y="5687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jurídicos, legislação cabo-verdiana e doutrina.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025128" y="5431536"/>
            <a:ext cx="292608" cy="292608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025128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9427464" y="543153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 e Entrega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427464" y="568756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do parecer final e notificação ao cliente.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005840"/>
            <a:ext cx="4754880" cy="475488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84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V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505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e Prática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equipa é notificada, como o escritório se administra a si próprio, e um caso prático completo para formação.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Notificações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Administração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4407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Cenário Simulado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4334256"/>
            <a:ext cx="640080" cy="22860"/>
          </a:xfrm>
          <a:prstGeom prst="rect">
            <a:avLst/>
          </a:prstGeom>
          <a:solidFill>
            <a:srgbClr val="8A6E27"/>
          </a:solidFill>
          <a:ln w="12700">
            <a:solidFill>
              <a:srgbClr val="8A6E27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11 · CENTRAL DE NOTIFICAÇÕES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de prazos e alterações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0" y="1508760"/>
            <a:ext cx="6537960" cy="4154805"/>
          </a:xfrm>
          <a:prstGeom prst="roundRect">
            <a:avLst>
              <a:gd name="adj" fmla="val 1320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19_notific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600200"/>
            <a:ext cx="6355080" cy="39719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57800" y="5755005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notificações — alertas de eventos em atraso e alterações nos processos.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Evento em Atraso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9110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Destacados a vermelho, para intervenção imediata.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5694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254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entre notificações Não Lidas e Lidas.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310896" cy="310896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4838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em Lote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7398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«Marcar todas como lidas» para limpeza do painel após conferência.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4160520" cy="1188720"/>
          </a:xfrm>
          <a:prstGeom prst="roundRect">
            <a:avLst>
              <a:gd name="adj" fmla="val 3846"/>
            </a:avLst>
          </a:prstGeom>
          <a:solidFill>
            <a:srgbClr val="1E2B45"/>
          </a:solidFill>
          <a:ln w="15875">
            <a:solidFill>
              <a:srgbClr val="D4A9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" y="491947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5175504"/>
            <a:ext cx="3685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Assegurar que nenhum membro do escritório perde eventos críticos ou alterações efetuadas nos processos que acompanha.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12 · DEFINIÇÕES E ADMINISTRAÇÃO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pessoal e gestão da equipa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user/lexcv/docs/images/20_configur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de sistema — separador «O Meu Perfil».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508760"/>
            <a:ext cx="5577840" cy="3554730"/>
          </a:xfrm>
          <a:prstGeom prst="roundRect">
            <a:avLst>
              <a:gd name="adj" fmla="val 1543"/>
            </a:avLst>
          </a:prstGeom>
          <a:solidFill>
            <a:srgbClr val="1E2B45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home/user/lexcv/docs/images/20b_gestao_utilizad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515493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utilizadores e credenciais do escritório.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Meu Perfil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 de notificações, telefone e fotografia.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374136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374136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da palavra-passe com padrões seguros.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Utilizadores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 Novo Utilizador», papéis e estado Ativo/Inativo.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025128" y="5522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Acesso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9025128" y="5760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global de direitos, para auditoria interna.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SECÇÃO 13 · CENÁRIO SIMULADO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prático completo — contexto Cabo Verde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efeitos de formação e demonstração, considere o seguinte caso realista, construído sobre os dados de exemplo da plataforma.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74720" cy="3913632"/>
          </a:xfrm>
          <a:prstGeom prst="roundRect">
            <a:avLst>
              <a:gd name="adj" fmla="val 131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6384" y="212140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591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Escritório Santiago, RL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980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DENOMINAÇÃO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809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de Advocacia &amp; Consultoria Jurídica Santiago, RL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38328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5661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Cidade de Lisboa, Fazenda, Praia — Santiago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6849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415137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254.896.321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55371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+238 261 4000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1920240"/>
            <a:ext cx="3474720" cy="3913632"/>
          </a:xfrm>
          <a:prstGeom prst="roundRect">
            <a:avLst>
              <a:gd name="adj" fmla="val 131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62856" y="212140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3591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Edemilson Pereira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27980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29809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CLI-0004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338328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35661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23330938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396849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415137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n.º 19890122M001Z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62856" y="455371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MORADA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62856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Filipe, Praia — Ilha de Santiago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62856" y="513892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532180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+238 74774788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1920240"/>
            <a:ext cx="3474720" cy="3913632"/>
          </a:xfrm>
          <a:prstGeom prst="roundRect">
            <a:avLst>
              <a:gd name="adj" fmla="val 1316"/>
            </a:avLst>
          </a:prstGeom>
          <a:solidFill>
            <a:srgbClr val="18233A"/>
          </a:solidFill>
          <a:ln w="12700">
            <a:solidFill>
              <a:srgbClr val="2C3B5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39328" y="212140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23591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Proc. 7373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279806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29809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13/09/2026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338328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35661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Comarca da Praia — 1.º Juízo Criminal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396849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339328" y="415137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Penal / Defesa Forense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455371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339328" y="47365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CONFLITO (homologado)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513892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HONORÁRIO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532180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180.000$00 CVE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120640" cy="512064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1823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206240" y="11704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57276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sistema, do intake à sentença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206240" y="2724912"/>
            <a:ext cx="164592" cy="164592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90288" y="2670048"/>
            <a:ext cx="7022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entra uma vez e serve todos os módulos — processos, agenda, documentos e conta-corrente.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3438144"/>
            <a:ext cx="164592" cy="164592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3383280"/>
            <a:ext cx="7022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processo abre sem verificação de conflito de interesses; nenhum termo de honorários sai sem valor acordado.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4151376"/>
            <a:ext cx="164592" cy="164592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4096512"/>
            <a:ext cx="7022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ficheiro vive em armazenamento de objeto, servido por ligação temporária, nunca no disco do servidor.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4864608"/>
            <a:ext cx="164592" cy="164592"/>
          </a:xfrm>
          <a:prstGeom prst="ellipse">
            <a:avLst/>
          </a:prstGeom>
          <a:solidFill>
            <a:srgbClr val="D4A94A"/>
          </a:solidFill>
          <a:ln w="12700">
            <a:solidFill>
              <a:srgbClr val="D4A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4809744"/>
            <a:ext cx="7022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fica registada na trilha de auditoria do processo, de forma imutável.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5742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ALCv · www.alcv.tech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5742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ALCv. Todos os direitos reservados.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ALCv — Legal Practice Management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 Utilizador — Plataforma Jurídica ALCv</dc:title>
  <dc:subject>PptxGenJS Presentation</dc:subject>
  <dc:creator>ALCv</dc:creator>
  <cp:lastModifiedBy>ALCv</cp:lastModifiedBy>
  <cp:revision>1</cp:revision>
  <dcterms:created xsi:type="dcterms:W3CDTF">2026-09-18T01:19:41Z</dcterms:created>
  <dcterms:modified xsi:type="dcterms:W3CDTF">2026-09-18T01:19:41Z</dcterms:modified>
</cp:coreProperties>
</file>