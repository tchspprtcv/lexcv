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6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013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229600" y="0"/>
            <a:ext cx="914400" cy="5143500"/>
          </a:xfrm>
          <a:prstGeom prst="rect">
            <a:avLst/>
          </a:prstGeom>
          <a:solidFill>
            <a:srgbClr val="1C7293">
              <a:alpha val="50000"/>
            </a:srgbClr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ALCV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90C4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Multi-Tenant de Gestao Juridica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90C4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Cabo Verde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4389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A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Junho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6350">
            <a:solidFill>
              <a:srgbClr val="D1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08813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Desafio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138074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que a ALCV resolve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801368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EEF4F8"/>
          </a:solidFill>
          <a:ln w="6350">
            <a:solidFill>
              <a:srgbClr val="D1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1801368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183794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Solucao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80160" y="21305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Visao geral da plataforma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551176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6350">
            <a:solidFill>
              <a:srgbClr val="D1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2551176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80160" y="258775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80160" y="2880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Modulos e capacidades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300984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EEF4F8"/>
          </a:solidFill>
          <a:ln w="6350">
            <a:solidFill>
              <a:srgbClr val="D1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3300984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80160" y="333756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Tecnica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80160" y="36301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Stack, seguranca e infraestrutura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4050792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6350">
            <a:solidFill>
              <a:srgbClr val="D1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" y="4050792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80160" y="408736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80160" y="437997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actual e proximas fases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Desafio: Gestao Juridica em Cabo Verde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2062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206240" cy="347472"/>
          </a:xfrm>
          <a:prstGeom prst="roundRect">
            <a:avLst>
              <a:gd name="adj" fmla="val 26316"/>
            </a:avLst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4206240" cy="1188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5488" y="1088136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Dispersao de informacao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453896"/>
            <a:ext cx="393192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Clientes, processos e documentos geridos em Excel, papel ou emails dispersos.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051560"/>
            <a:ext cx="42062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00600" y="1051560"/>
            <a:ext cx="4206240" cy="347472"/>
          </a:xfrm>
          <a:prstGeom prst="roundRect">
            <a:avLst>
              <a:gd name="adj" fmla="val 26316"/>
            </a:avLst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00600" y="1280160"/>
            <a:ext cx="4206240" cy="1188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10328" y="1088136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Ausencia de controlo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1453896"/>
            <a:ext cx="393192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Prazos processuais perdidos por falta de um sistema centralizado de alertas.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971800"/>
            <a:ext cx="42062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2971800"/>
            <a:ext cx="4206240" cy="347472"/>
          </a:xfrm>
          <a:prstGeom prst="roundRect">
            <a:avLst>
              <a:gd name="adj" fmla="val 26316"/>
            </a:avLst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65760" y="3200400"/>
            <a:ext cx="4206240" cy="1188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5488" y="3008376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Dificuldade financeira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3374136"/>
            <a:ext cx="393192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Honorarios e pagamentos sem rastreabilidade, gerando perda de receita.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2971800"/>
            <a:ext cx="42062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00600" y="2971800"/>
            <a:ext cx="4206240" cy="347472"/>
          </a:xfrm>
          <a:prstGeom prst="roundRect">
            <a:avLst>
              <a:gd name="adj" fmla="val 26316"/>
            </a:avLst>
          </a:prstGeom>
          <a:solidFill>
            <a:srgbClr val="0F5D7A"/>
          </a:solidFill>
          <a:ln w="12700">
            <a:solidFill>
              <a:srgbClr val="0F5D7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00600" y="3200400"/>
            <a:ext cx="4206240" cy="118872"/>
          </a:xfrm>
          <a:prstGeom prst="rect">
            <a:avLst/>
          </a:prstGeom>
          <a:solidFill>
            <a:srgbClr val="0F5D7A"/>
          </a:solidFill>
          <a:ln w="12700">
            <a:solidFill>
              <a:srgbClr val="0F5D7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10328" y="3008376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Colaboracao limitada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3374136"/>
            <a:ext cx="393192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Equipas sem visibilidade partilhada sobre o estado dos processos em curso.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91D38"/>
          </a:solidFill>
          <a:ln w="12700">
            <a:solidFill>
              <a:srgbClr val="091D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Solucao: O que e a ALCV?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ALCV e uma plataforma web multi-tenant para escritorios de advocacia em Cabo Verde, que centraliza a gestao de clientes, processos, agenda, documentos, pareceres juridicos e financas num unico ambiente seguro e acessivel.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2377440"/>
            <a:ext cx="4206240" cy="1097280"/>
          </a:xfrm>
          <a:prstGeom prst="roundRect">
            <a:avLst>
              <a:gd name="adj" fmla="val 8333"/>
            </a:avLst>
          </a:prstGeom>
          <a:solidFill>
            <a:srgbClr val="065A82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24688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EC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Centralizado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78892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a informacao do escritorio num so lugar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800600" y="2377440"/>
            <a:ext cx="4206240" cy="1097280"/>
          </a:xfrm>
          <a:prstGeom prst="roundRect">
            <a:avLst>
              <a:gd name="adj" fmla="val 8333"/>
            </a:avLst>
          </a:prstGeom>
          <a:solidFill>
            <a:srgbClr val="065A82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37760" y="24688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EC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278892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Controlo de acessos por perfil e isolamento de dados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3657600"/>
            <a:ext cx="4206240" cy="1097280"/>
          </a:xfrm>
          <a:prstGeom prst="roundRect">
            <a:avLst>
              <a:gd name="adj" fmla="val 8333"/>
            </a:avLst>
          </a:prstGeom>
          <a:solidFill>
            <a:srgbClr val="065A82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37490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EC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406908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sistema, multiplos escritorios independentes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800600" y="3657600"/>
            <a:ext cx="4206240" cy="1097280"/>
          </a:xfrm>
          <a:prstGeom prst="roundRect">
            <a:avLst>
              <a:gd name="adj" fmla="val 8333"/>
            </a:avLst>
          </a:prstGeom>
          <a:solidFill>
            <a:srgbClr val="065A82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37760" y="37490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EC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Web-First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406908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de qualquer dispositivo, sem instalacoes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Modulos da Plataforma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584448" y="2115528"/>
            <a:ext cx="2011680" cy="1497658"/>
          </a:xfrm>
          <a:prstGeom prst="ellipse">
            <a:avLst/>
          </a:prstGeom>
          <a:solidFill>
            <a:srgbClr val="0A2342"/>
          </a:solidFill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47288" y="2303930"/>
            <a:ext cx="2286000" cy="1125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ALCV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82880" y="1005840"/>
            <a:ext cx="2468880" cy="777240"/>
          </a:xfrm>
          <a:prstGeom prst="roundRect">
            <a:avLst>
              <a:gd name="adj" fmla="val 11765"/>
            </a:avLst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92608" y="1042416"/>
            <a:ext cx="22494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92608" y="1371600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6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completa, historico, merge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82880" y="3017520"/>
            <a:ext cx="2468880" cy="777240"/>
          </a:xfrm>
          <a:prstGeom prst="roundRect">
            <a:avLst>
              <a:gd name="adj" fmla="val 11765"/>
            </a:avLst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92608" y="3054096"/>
            <a:ext cx="22494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2608" y="3383280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6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Fases, partes, movimentacoes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492240" y="1005840"/>
            <a:ext cx="2468880" cy="777240"/>
          </a:xfrm>
          <a:prstGeom prst="roundRect">
            <a:avLst>
              <a:gd name="adj" fmla="val 11765"/>
            </a:avLst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601968" y="1042416"/>
            <a:ext cx="22494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01968" y="1371600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6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Eventos, prazos, alertas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492240" y="3017520"/>
            <a:ext cx="2468880" cy="777240"/>
          </a:xfrm>
          <a:prstGeom prst="roundRect">
            <a:avLst>
              <a:gd name="adj" fmla="val 11765"/>
            </a:avLst>
          </a:prstGeom>
          <a:solidFill>
            <a:srgbClr val="0F5D7A"/>
          </a:solidFill>
          <a:ln w="12700">
            <a:solidFill>
              <a:srgbClr val="0F5D7A">
                <a:alpha val="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601968" y="3054096"/>
            <a:ext cx="22494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01968" y="3383280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6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Upload, organizacao, download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337560" y="3931920"/>
            <a:ext cx="2468880" cy="777240"/>
          </a:xfrm>
          <a:prstGeom prst="roundRect">
            <a:avLst>
              <a:gd name="adj" fmla="val 11765"/>
            </a:avLst>
          </a:prstGeom>
          <a:solidFill>
            <a:srgbClr val="1A4A6E"/>
          </a:solidFill>
          <a:ln w="12700">
            <a:solidFill>
              <a:srgbClr val="1A4A6E">
                <a:alpha val="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447288" y="3968496"/>
            <a:ext cx="22494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Financeiro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47288" y="4297680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6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Honorarios, pagamentos, saldo</a:t>
            </a:r>
            <a:endParaRPr lang="en-US" sz="950" dirty="0"/>
          </a:p>
        </p:txBody>
      </p:sp>
      <p:sp>
        <p:nvSpPr>
          <p:cNvPr id="28" name="Shape 16">
            <a:extLst>
              <a:ext uri="{FF2B5EF4-FFF2-40B4-BE49-F238E27FC236}">
                <a16:creationId xmlns:a16="http://schemas.microsoft.com/office/drawing/2014/main" id="{CF85C7F8-DFA9-615E-DE9D-49F5494FAF59}"/>
              </a:ext>
            </a:extLst>
          </p:cNvPr>
          <p:cNvSpPr/>
          <p:nvPr/>
        </p:nvSpPr>
        <p:spPr>
          <a:xfrm>
            <a:off x="3337560" y="1073111"/>
            <a:ext cx="2468880" cy="777240"/>
          </a:xfrm>
          <a:prstGeom prst="roundRect">
            <a:avLst>
              <a:gd name="adj" fmla="val 11765"/>
            </a:avLst>
          </a:prstGeom>
          <a:solidFill>
            <a:srgbClr val="1A4A6E"/>
          </a:solidFill>
          <a:ln w="12700">
            <a:solidFill>
              <a:srgbClr val="1A4A6E">
                <a:alpha val="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17">
            <a:extLst>
              <a:ext uri="{FF2B5EF4-FFF2-40B4-BE49-F238E27FC236}">
                <a16:creationId xmlns:a16="http://schemas.microsoft.com/office/drawing/2014/main" id="{C0FD01AF-789A-341F-4DAC-872A90710F94}"/>
              </a:ext>
            </a:extLst>
          </p:cNvPr>
          <p:cNvSpPr/>
          <p:nvPr/>
        </p:nvSpPr>
        <p:spPr>
          <a:xfrm>
            <a:off x="3447288" y="1109687"/>
            <a:ext cx="22494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Pareceres</a:t>
            </a:r>
            <a:endParaRPr lang="en-US" sz="1300" dirty="0"/>
          </a:p>
        </p:txBody>
      </p:sp>
      <p:sp>
        <p:nvSpPr>
          <p:cNvPr id="32" name="Text 18">
            <a:extLst>
              <a:ext uri="{FF2B5EF4-FFF2-40B4-BE49-F238E27FC236}">
                <a16:creationId xmlns:a16="http://schemas.microsoft.com/office/drawing/2014/main" id="{9DBABA7B-E2F5-B14D-6359-698CDB60AF67}"/>
              </a:ext>
            </a:extLst>
          </p:cNvPr>
          <p:cNvSpPr/>
          <p:nvPr/>
        </p:nvSpPr>
        <p:spPr>
          <a:xfrm>
            <a:off x="3447288" y="1438871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 err="1">
                <a:solidFill>
                  <a:srgbClr val="D6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Solicitação</a:t>
            </a:r>
            <a:r>
              <a:rPr lang="en-US" sz="950" dirty="0">
                <a:solidFill>
                  <a:srgbClr val="D6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950" dirty="0" err="1">
                <a:solidFill>
                  <a:srgbClr val="D6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versionamento</a:t>
            </a:r>
            <a:r>
              <a:rPr lang="en-US" sz="950" dirty="0">
                <a:solidFill>
                  <a:srgbClr val="D6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950" dirty="0" err="1">
                <a:solidFill>
                  <a:srgbClr val="D6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Modulo: Clientes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Gestao completa do relacionamento com clientes — pessoas singulares ou colectivas.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55448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554480"/>
            <a:ext cx="2651760" cy="347472"/>
          </a:xfrm>
          <a:prstGeom prst="roundRect">
            <a:avLst>
              <a:gd name="adj" fmla="val 26316"/>
            </a:avLst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783080"/>
            <a:ext cx="2651760" cy="1188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9768" y="1591056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Completa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956816"/>
            <a:ext cx="23774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Nome, NIF, contactos, morada e notas internas numa unica vista.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72968" y="155448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172968" y="1554480"/>
            <a:ext cx="2651760" cy="347472"/>
          </a:xfrm>
          <a:prstGeom prst="roundRect">
            <a:avLst>
              <a:gd name="adj" fmla="val 26316"/>
            </a:avLst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172968" y="1783080"/>
            <a:ext cx="2651760" cy="1188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82696" y="1591056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Historico de Processos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10128" y="1956816"/>
            <a:ext cx="23774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processos associados ao cliente acessiveis de imediato.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25896" y="155448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25896" y="1554480"/>
            <a:ext cx="2651760" cy="347472"/>
          </a:xfrm>
          <a:prstGeom prst="roundRect">
            <a:avLst>
              <a:gd name="adj" fmla="val 26316"/>
            </a:avLst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025896" y="1783080"/>
            <a:ext cx="2651760" cy="1188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135624" y="1591056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Fusao de Clientes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63056" y="1956816"/>
            <a:ext cx="23774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 de merge para eliminar registos duplicados com seguranca.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29184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0040" y="3291840"/>
            <a:ext cx="2651760" cy="347472"/>
          </a:xfrm>
          <a:prstGeom prst="roundRect">
            <a:avLst>
              <a:gd name="adj" fmla="val 26316"/>
            </a:avLst>
          </a:prstGeom>
          <a:solidFill>
            <a:srgbClr val="0F5D7A"/>
          </a:solidFill>
          <a:ln w="12700">
            <a:solidFill>
              <a:srgbClr val="0F5D7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0040" y="3520440"/>
            <a:ext cx="2651760" cy="118872"/>
          </a:xfrm>
          <a:prstGeom prst="rect">
            <a:avLst/>
          </a:prstGeom>
          <a:solidFill>
            <a:srgbClr val="0F5D7A"/>
          </a:solidFill>
          <a:ln w="12700">
            <a:solidFill>
              <a:srgbClr val="0F5D7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29768" y="3328416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Rapida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3694176"/>
            <a:ext cx="23774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por nome, NIF ou numero de cliente com resultados instantaneos.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172968" y="329184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172968" y="3291840"/>
            <a:ext cx="2651760" cy="347472"/>
          </a:xfrm>
          <a:prstGeom prst="roundRect">
            <a:avLst>
              <a:gd name="adj" fmla="val 26316"/>
            </a:avLst>
          </a:prstGeom>
          <a:solidFill>
            <a:srgbClr val="1A4A6E"/>
          </a:solidFill>
          <a:ln w="12700">
            <a:solidFill>
              <a:srgbClr val="1A4A6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172968" y="3520440"/>
            <a:ext cx="2651760" cy="118872"/>
          </a:xfrm>
          <a:prstGeom prst="rect">
            <a:avLst/>
          </a:prstGeom>
          <a:solidFill>
            <a:srgbClr val="1A4A6E"/>
          </a:solidFill>
          <a:ln w="12700">
            <a:solidFill>
              <a:srgbClr val="1A4A6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282696" y="3328416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Controlo de Acesso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10128" y="3694176"/>
            <a:ext cx="23774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Visibilidade dos clientes condicionada ao perfil do utilizador.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25896" y="329184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025896" y="3291840"/>
            <a:ext cx="2651760" cy="347472"/>
          </a:xfrm>
          <a:prstGeom prst="roundRect">
            <a:avLst>
              <a:gd name="adj" fmla="val 26316"/>
            </a:avLst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025896" y="3520440"/>
            <a:ext cx="2651760" cy="1188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135624" y="3328416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63056" y="3694176"/>
            <a:ext cx="23774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escritorio ve apenas os seus proprios clientes.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Modulo: Processos Juridicos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Acompanhamento end-to-end de cada processo, das partes envolvidas as movimentacoes.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" y="1536192"/>
            <a:ext cx="1188720" cy="594360"/>
          </a:xfrm>
          <a:prstGeom prst="roundRect">
            <a:avLst>
              <a:gd name="adj" fmla="val 12308"/>
            </a:avLst>
          </a:prstGeom>
          <a:solidFill>
            <a:srgbClr val="1C7293">
              <a:alpha val="50000"/>
            </a:srgbClr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47472" y="1536192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536192" y="1801368"/>
            <a:ext cx="219456" cy="640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755648" y="1536192"/>
            <a:ext cx="1188720" cy="594360"/>
          </a:xfrm>
          <a:prstGeom prst="roundRect">
            <a:avLst>
              <a:gd name="adj" fmla="val 12308"/>
            </a:avLst>
          </a:prstGeom>
          <a:solidFill>
            <a:srgbClr val="1C7293">
              <a:alpha val="50000"/>
            </a:srgbClr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755648" y="1536192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Instrucao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944368" y="1801368"/>
            <a:ext cx="219456" cy="640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163824" y="1536192"/>
            <a:ext cx="1188720" cy="594360"/>
          </a:xfrm>
          <a:prstGeom prst="roundRect">
            <a:avLst>
              <a:gd name="adj" fmla="val 12308"/>
            </a:avLst>
          </a:prstGeom>
          <a:solidFill>
            <a:srgbClr val="065A82"/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163824" y="1536192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Audiencia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352544" y="1801368"/>
            <a:ext cx="219456" cy="640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0" y="1536192"/>
            <a:ext cx="1188720" cy="594360"/>
          </a:xfrm>
          <a:prstGeom prst="roundRect">
            <a:avLst>
              <a:gd name="adj" fmla="val 12308"/>
            </a:avLst>
          </a:prstGeom>
          <a:solidFill>
            <a:srgbClr val="1C7293">
              <a:alpha val="50000"/>
            </a:srgbClr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0" y="1536192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760720" y="1801368"/>
            <a:ext cx="219456" cy="640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980176" y="1536192"/>
            <a:ext cx="1188720" cy="594360"/>
          </a:xfrm>
          <a:prstGeom prst="roundRect">
            <a:avLst>
              <a:gd name="adj" fmla="val 12308"/>
            </a:avLst>
          </a:prstGeom>
          <a:solidFill>
            <a:srgbClr val="1C7293">
              <a:alpha val="50000"/>
            </a:srgbClr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80176" y="1536192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168896" y="1801368"/>
            <a:ext cx="219456" cy="640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388352" y="1536192"/>
            <a:ext cx="1188720" cy="594360"/>
          </a:xfrm>
          <a:prstGeom prst="roundRect">
            <a:avLst>
              <a:gd name="adj" fmla="val 12308"/>
            </a:avLst>
          </a:prstGeom>
          <a:solidFill>
            <a:srgbClr val="1C7293">
              <a:alpha val="50000"/>
            </a:srgbClr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88352" y="1536192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22128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actual destacada  |  Fluxo configuravel por tipo de processo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2633472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20040" y="2633472"/>
            <a:ext cx="4206240" cy="347472"/>
          </a:xfrm>
          <a:prstGeom prst="roundRect">
            <a:avLst>
              <a:gd name="adj" fmla="val 26316"/>
            </a:avLst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20040" y="2862072"/>
            <a:ext cx="4206240" cy="1188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29768" y="2670048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Partes Processuais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3035808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Registo de todos os intervenientes: autor, reu, testemunhas e advogados.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2633472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754880" y="2633472"/>
            <a:ext cx="4206240" cy="347472"/>
          </a:xfrm>
          <a:prstGeom prst="roundRect">
            <a:avLst>
              <a:gd name="adj" fmla="val 26316"/>
            </a:avLst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754880" y="2862072"/>
            <a:ext cx="4206240" cy="1188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64608" y="2670048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Movimentacoes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92040" y="3035808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Historico cronologico de accoes e despachos do processo.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0040" y="3822192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20040" y="3822192"/>
            <a:ext cx="4206240" cy="347472"/>
          </a:xfrm>
          <a:prstGeom prst="roundRect">
            <a:avLst>
              <a:gd name="adj" fmla="val 26316"/>
            </a:avLst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20040" y="4050792"/>
            <a:ext cx="4206240" cy="1188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29768" y="3858768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 Configuravelis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4224528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fases adaptavel ao tipo de processo (civel, penal, laboral).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754880" y="3822192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754880" y="3822192"/>
            <a:ext cx="4206240" cy="347472"/>
          </a:xfrm>
          <a:prstGeom prst="roundRect">
            <a:avLst>
              <a:gd name="adj" fmla="val 26316"/>
            </a:avLst>
          </a:prstGeom>
          <a:solidFill>
            <a:srgbClr val="0F5D7A"/>
          </a:solidFill>
          <a:ln w="12700">
            <a:solidFill>
              <a:srgbClr val="0F5D7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754880" y="4050792"/>
            <a:ext cx="4206240" cy="118872"/>
          </a:xfrm>
          <a:prstGeom prst="rect">
            <a:avLst/>
          </a:prstGeom>
          <a:solidFill>
            <a:srgbClr val="0F5D7A"/>
          </a:solidFill>
          <a:ln w="12700">
            <a:solidFill>
              <a:srgbClr val="0F5D7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864608" y="3858768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KPIs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892040" y="4224528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em tempo real: processos activos, pendentes e encerrados.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Modulo: Agenda &amp; Prazos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Controlo centralizado de eventos, audiencias e prazos processuais criticos.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48463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Registo de audiencias, reunioes e diligencias externas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216712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de proximidade de prazo processual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2642616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mensal, semanal e por processo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3118104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Associacao de eventos a processos e clientes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35935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Controlo de participantes e responsaveis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40690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por tipo de evento e advogado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0" y="1554480"/>
            <a:ext cx="3291840" cy="91440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577840" y="1591056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766560" y="16459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D6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Prazos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D6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perdidos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0" y="2633472"/>
            <a:ext cx="3291840" cy="91440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577840" y="2670048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766560" y="2724912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D6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Visibilidade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D6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equipa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0" y="3712464"/>
            <a:ext cx="3291840" cy="914400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577840" y="374904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766560" y="3803904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D6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D6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qualquer hora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Modulo: Documentos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central de documentos associado a processos, com upload e download seguro.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55448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554480"/>
            <a:ext cx="2651760" cy="347472"/>
          </a:xfrm>
          <a:prstGeom prst="roundRect">
            <a:avLst>
              <a:gd name="adj" fmla="val 26316"/>
            </a:avLst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783080"/>
            <a:ext cx="2651760" cy="1188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9768" y="1591056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Seguro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956816"/>
            <a:ext cx="23774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Envio de qualquer tipo de ficheiro directamente no processo.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72968" y="155448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172968" y="1554480"/>
            <a:ext cx="2651760" cy="347472"/>
          </a:xfrm>
          <a:prstGeom prst="roundRect">
            <a:avLst>
              <a:gd name="adj" fmla="val 26316"/>
            </a:avLst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172968" y="1783080"/>
            <a:ext cx="2651760" cy="1188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82696" y="1591056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Numeracao Automatica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10128" y="1956816"/>
            <a:ext cx="23774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documento recebe numero unico por escritorio (tenant).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25896" y="155448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25896" y="1554480"/>
            <a:ext cx="2651760" cy="347472"/>
          </a:xfrm>
          <a:prstGeom prst="roundRect">
            <a:avLst>
              <a:gd name="adj" fmla="val 26316"/>
            </a:avLst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025896" y="1783080"/>
            <a:ext cx="2651760" cy="1188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135624" y="1591056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de Docs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63056" y="1956816"/>
            <a:ext cx="23774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Localizacao rapida por nome, processo ou tipo de documento.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29184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0040" y="3291840"/>
            <a:ext cx="2651760" cy="347472"/>
          </a:xfrm>
          <a:prstGeom prst="roundRect">
            <a:avLst>
              <a:gd name="adj" fmla="val 26316"/>
            </a:avLst>
          </a:prstGeom>
          <a:solidFill>
            <a:srgbClr val="0F5D7A"/>
          </a:solidFill>
          <a:ln w="12700">
            <a:solidFill>
              <a:srgbClr val="0F5D7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0040" y="3520440"/>
            <a:ext cx="2651760" cy="118872"/>
          </a:xfrm>
          <a:prstGeom prst="rect">
            <a:avLst/>
          </a:prstGeom>
          <a:solidFill>
            <a:srgbClr val="0F5D7A"/>
          </a:solidFill>
          <a:ln w="12700">
            <a:solidFill>
              <a:srgbClr val="0F5D7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29768" y="3328416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Controlado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3694176"/>
            <a:ext cx="23774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ao ficheiro original protegido por permissoes de perfil.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172968" y="329184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172968" y="3291840"/>
            <a:ext cx="2651760" cy="347472"/>
          </a:xfrm>
          <a:prstGeom prst="roundRect">
            <a:avLst>
              <a:gd name="adj" fmla="val 26316"/>
            </a:avLst>
          </a:prstGeom>
          <a:solidFill>
            <a:srgbClr val="1A4A6E"/>
          </a:solidFill>
          <a:ln w="12700">
            <a:solidFill>
              <a:srgbClr val="1A4A6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172968" y="3520440"/>
            <a:ext cx="2651760" cy="118872"/>
          </a:xfrm>
          <a:prstGeom prst="rect">
            <a:avLst/>
          </a:prstGeom>
          <a:solidFill>
            <a:srgbClr val="1A4A6E"/>
          </a:solidFill>
          <a:ln w="12700">
            <a:solidFill>
              <a:srgbClr val="1A4A6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282696" y="3328416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10128" y="3694176"/>
            <a:ext cx="23774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Rastreabilidade de quem adicionou cada documento e quando.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25896" y="329184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025896" y="3291840"/>
            <a:ext cx="2651760" cy="347472"/>
          </a:xfrm>
          <a:prstGeom prst="roundRect">
            <a:avLst>
              <a:gd name="adj" fmla="val 26316"/>
            </a:avLst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025896" y="3520440"/>
            <a:ext cx="2651760" cy="1188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135624" y="3328416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Associacao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63056" y="3694176"/>
            <a:ext cx="23774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ligados ao contexto processual correspondente.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Modulo: Financeiro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Controlo completo de honorarios, pagamentos e saldo por processo e cliente.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2194560" cy="1005840"/>
          </a:xfrm>
          <a:prstGeom prst="roundRect">
            <a:avLst>
              <a:gd name="adj" fmla="val 9091"/>
            </a:avLst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572768"/>
            <a:ext cx="2011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Honorario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Registado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26080" y="2011680"/>
            <a:ext cx="457200" cy="7315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383280" y="1554480"/>
            <a:ext cx="2194560" cy="1005840"/>
          </a:xfrm>
          <a:prstGeom prst="roundRect">
            <a:avLst>
              <a:gd name="adj" fmla="val 9091"/>
            </a:avLst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74720" y="1572768"/>
            <a:ext cx="2011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Efectuado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577840" y="2011680"/>
            <a:ext cx="457200" cy="7315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035040" y="1554480"/>
            <a:ext cx="2194560" cy="1005840"/>
          </a:xfrm>
          <a:prstGeom prst="roundRect">
            <a:avLst>
              <a:gd name="adj" fmla="val 9091"/>
            </a:avLst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126480" y="1572768"/>
            <a:ext cx="2011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Actualizado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" y="2743200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" y="2743200"/>
            <a:ext cx="4206240" cy="347472"/>
          </a:xfrm>
          <a:prstGeom prst="roundRect">
            <a:avLst>
              <a:gd name="adj" fmla="val 26316"/>
            </a:avLst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0040" y="2971800"/>
            <a:ext cx="4206240" cy="1188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29768" y="2779776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Registo de Honorarios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145536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acordado, data e condicoes de pagamento por processo.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2743200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54880" y="2743200"/>
            <a:ext cx="4206240" cy="347472"/>
          </a:xfrm>
          <a:prstGeom prst="roundRect">
            <a:avLst>
              <a:gd name="adj" fmla="val 26316"/>
            </a:avLst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54880" y="2971800"/>
            <a:ext cx="4206240" cy="1188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64608" y="2779776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Pagamentos Parciais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92040" y="3145536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a multiplos pagamentos e abatimentos ao valor em divida.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3931920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20040" y="3931920"/>
            <a:ext cx="4206240" cy="347472"/>
          </a:xfrm>
          <a:prstGeom prst="roundRect">
            <a:avLst>
              <a:gd name="adj" fmla="val 26316"/>
            </a:avLst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20040" y="4160520"/>
            <a:ext cx="4206240" cy="1188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29768" y="3968496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 em Tempo Real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334256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Visao imediata do montante pago e em aberto por cliente.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3931920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754880" y="3931920"/>
            <a:ext cx="4206240" cy="347472"/>
          </a:xfrm>
          <a:prstGeom prst="roundRect">
            <a:avLst>
              <a:gd name="adj" fmla="val 26316"/>
            </a:avLst>
          </a:prstGeom>
          <a:solidFill>
            <a:srgbClr val="0F5D7A"/>
          </a:solidFill>
          <a:ln w="12700">
            <a:solidFill>
              <a:srgbClr val="0F5D7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754880" y="4160520"/>
            <a:ext cx="4206240" cy="118872"/>
          </a:xfrm>
          <a:prstGeom prst="rect">
            <a:avLst/>
          </a:prstGeom>
          <a:solidFill>
            <a:srgbClr val="0F5D7A"/>
          </a:solidFill>
          <a:ln w="12700">
            <a:solidFill>
              <a:srgbClr val="0F5D7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64608" y="3968496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Relatorio Financeiro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92040" y="4334256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com receita acumulada, pendentes e historico mensal.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Modulo: Parecer Juridico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completo de solicitacao, elaboracao, entrega e auditoria de pareceres juridicos.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55448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554480"/>
            <a:ext cx="2651760" cy="347472"/>
          </a:xfrm>
          <a:prstGeom prst="roundRect">
            <a:avLst>
              <a:gd name="adj" fmla="val 26316"/>
            </a:avLst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783080"/>
            <a:ext cx="2651760" cy="1188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9768" y="1591056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Solicitacao Estruturada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956816"/>
            <a:ext cx="23774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 associado a cliente, processo e advogado responsavel.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72968" y="155448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172968" y="1554480"/>
            <a:ext cx="2651760" cy="347472"/>
          </a:xfrm>
          <a:prstGeom prst="roundRect">
            <a:avLst>
              <a:gd name="adj" fmla="val 26316"/>
            </a:avLst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172968" y="1783080"/>
            <a:ext cx="2651760" cy="1188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82696" y="1591056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Versionamento Imutavel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10128" y="1956816"/>
            <a:ext cx="23774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versao fica registada; nunca e sobrescrita.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25896" y="155448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25896" y="1554480"/>
            <a:ext cx="2651760" cy="347472"/>
          </a:xfrm>
          <a:prstGeom prst="roundRect">
            <a:avLst>
              <a:gd name="adj" fmla="val 26316"/>
            </a:avLst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025896" y="1783080"/>
            <a:ext cx="2651760" cy="1188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135624" y="1591056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Irreversivel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63056" y="1956816"/>
            <a:ext cx="23774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final ao cliente, com vista dedicada e bloqueio de edicao.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29184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0040" y="3291840"/>
            <a:ext cx="2651760" cy="347472"/>
          </a:xfrm>
          <a:prstGeom prst="roundRect">
            <a:avLst>
              <a:gd name="adj" fmla="val 26316"/>
            </a:avLst>
          </a:prstGeom>
          <a:solidFill>
            <a:srgbClr val="0F5D7A"/>
          </a:solidFill>
          <a:ln w="12700">
            <a:solidFill>
              <a:srgbClr val="0F5D7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0040" y="3520440"/>
            <a:ext cx="2651760" cy="118872"/>
          </a:xfrm>
          <a:prstGeom prst="rect">
            <a:avLst/>
          </a:prstGeom>
          <a:solidFill>
            <a:srgbClr val="0F5D7A"/>
          </a:solidFill>
          <a:ln w="12700">
            <a:solidFill>
              <a:srgbClr val="0F5D7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29768" y="3328416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Avancada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3694176"/>
            <a:ext cx="23774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Localizacao por cliente, processo, advogado ou palavra-chave.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172968" y="329184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172968" y="3291840"/>
            <a:ext cx="2651760" cy="347472"/>
          </a:xfrm>
          <a:prstGeom prst="roundRect">
            <a:avLst>
              <a:gd name="adj" fmla="val 26316"/>
            </a:avLst>
          </a:prstGeom>
          <a:solidFill>
            <a:srgbClr val="1A4A6E"/>
          </a:solidFill>
          <a:ln w="12700">
            <a:solidFill>
              <a:srgbClr val="1A4A6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172968" y="3520440"/>
            <a:ext cx="2651760" cy="118872"/>
          </a:xfrm>
          <a:prstGeom prst="rect">
            <a:avLst/>
          </a:prstGeom>
          <a:solidFill>
            <a:srgbClr val="1A4A6E"/>
          </a:solidFill>
          <a:ln w="12700">
            <a:solidFill>
              <a:srgbClr val="1A4A6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282696" y="3328416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Automatica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10128" y="3694176"/>
            <a:ext cx="23774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Registo automatico de criacao, versionamento, aprovacao e entrega.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25896" y="329184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025896" y="3291840"/>
            <a:ext cx="2651760" cy="347472"/>
          </a:xfrm>
          <a:prstGeom prst="roundRect">
            <a:avLst>
              <a:gd name="adj" fmla="val 26316"/>
            </a:avLst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025896" y="3520440"/>
            <a:ext cx="2651760" cy="1188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135624" y="3328416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por Instancia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63056" y="3694176"/>
            <a:ext cx="23774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o advogado responsavel ou um ADMIN pode editar o parecer.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Executivo &amp; KPIs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Visao em tempo real da saude do escritorio — para gestores e advogados seniores.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4206240" cy="1600200"/>
          </a:xfrm>
          <a:prstGeom prst="roundRect">
            <a:avLst>
              <a:gd name="adj" fmla="val 6857"/>
            </a:avLst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23774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Activos / Encerrados / Pendentes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4206240" cy="1600200"/>
          </a:xfrm>
          <a:prstGeom prst="roundRect">
            <a:avLst>
              <a:gd name="adj" fmla="val 6857"/>
            </a:avLst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37760" y="16002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937760" y="23774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 vs. Em Aberto (mes/ano)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" y="3246120"/>
            <a:ext cx="4206240" cy="1600200"/>
          </a:xfrm>
          <a:prstGeom prst="roundRect">
            <a:avLst>
              <a:gd name="adj" fmla="val 6857"/>
            </a:avLst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34290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Prazos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02920" y="42062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Proximos 7 dias com alertas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54880" y="3246120"/>
            <a:ext cx="4206240" cy="1600200"/>
          </a:xfrm>
          <a:prstGeom prst="roundRect">
            <a:avLst>
              <a:gd name="adj" fmla="val 6857"/>
            </a:avLst>
          </a:prstGeom>
          <a:solidFill>
            <a:srgbClr val="0F5D7A"/>
          </a:solidFill>
          <a:ln w="12700">
            <a:solidFill>
              <a:srgbClr val="0F5D7A">
                <a:alpha val="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37760" y="34290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937760" y="42062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Novos, activos e inactivos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0A2342">
              <a:alpha val="60000"/>
            </a:srgbClr>
          </a:solidFill>
          <a:ln w="12700">
            <a:solidFill>
              <a:srgbClr val="0A234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Tecnica</a:t>
            </a:r>
            <a:endParaRPr lang="en-US" sz="3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Tecnologico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651760" cy="37490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280160"/>
            <a:ext cx="2651760" cy="1828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(App Router)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05740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56032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TanStack Query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06324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+ shadcn/ui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356616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+ React Hook Form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406908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172968" y="1005840"/>
            <a:ext cx="2651760" cy="37490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172968" y="100584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172968" y="1280160"/>
            <a:ext cx="2651760" cy="1828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64408" y="1005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10128" y="155448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3.4.1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10128" y="205740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23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10128" y="256032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+ JWT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10128" y="306324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/ Hibernate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310128" y="356616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310128" y="406908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SpotBugs / FindSecBugs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25896" y="1005840"/>
            <a:ext cx="2651760" cy="37490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025896" y="100584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025896" y="1280160"/>
            <a:ext cx="2651760" cy="1828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117336" y="1005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&amp; Seguranca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163056" y="155448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multi-tenant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163056" y="205740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Cookies httpOnly (auth)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163056" y="256032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API proxy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163056" y="306324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 Object Storage (S3)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163056" y="356616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CI/CD (GHCR)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163056" y="406908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vars obrigatorias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Seguranca &amp; Controlo de Acessos (RBAC)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utilizador ve e faz apenas o que o seu perfil permite — em ambas as camadas.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Perfis de utilizador: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3931920" cy="694944"/>
          </a:xfrm>
          <a:prstGeom prst="roundRect">
            <a:avLst>
              <a:gd name="adj" fmla="val 10526"/>
            </a:avLst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92938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22219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D6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Gestao total de utilizadores, papeis e configuracoes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2715768"/>
            <a:ext cx="3931920" cy="694944"/>
          </a:xfrm>
          <a:prstGeom prst="roundRect">
            <a:avLst>
              <a:gd name="adj" fmla="val 10526"/>
            </a:avLst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27706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ADVOGADO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3063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D6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completo a clientes, processos e financeiro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3557016"/>
            <a:ext cx="3931920" cy="694944"/>
          </a:xfrm>
          <a:prstGeom prst="roundRect">
            <a:avLst>
              <a:gd name="adj" fmla="val 10526"/>
            </a:avLst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36118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TECNICO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39044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D6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Visualizacao e edicao de processos e documentos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4398264"/>
            <a:ext cx="3931920" cy="694944"/>
          </a:xfrm>
          <a:prstGeom prst="roundRect">
            <a:avLst>
              <a:gd name="adj" fmla="val 10526"/>
            </a:avLst>
          </a:prstGeom>
          <a:solidFill>
            <a:srgbClr val="0F5D7A"/>
          </a:solidFill>
          <a:ln w="12700">
            <a:solidFill>
              <a:srgbClr val="0F5D7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44531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ASSISTENTE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" y="47457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D6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Visualizacao de agenda e consulta de processos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0" y="1508760"/>
            <a:ext cx="420624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09160" y="16002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 a autenticacao: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09160" y="2029968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em cookies httpOnly (sem tokens em JavaScript)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09160" y="2505456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via POST /auth/login -&gt; cookies access_token + refresh_token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09160" y="2980944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Autorizacao method-level com @PreAuthorize no backend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09160" y="3456432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espelha permissoes com hasScopedPermission()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09160" y="393192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Convencao scope:action (ex: processos:edit, clientes:view)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09160" y="4407408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Proxy: Next.js reescreve /api/v1/* -&gt; backend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Multi-Tenancy: Isolamento de Dados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sistema partilhado, com dados completamente isolados por escritorio.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554480"/>
            <a:ext cx="26517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0160">
            <a:solidFill>
              <a:srgbClr val="D1E4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554480"/>
            <a:ext cx="2651760" cy="457200"/>
          </a:xfrm>
          <a:prstGeom prst="roundRect">
            <a:avLst>
              <a:gd name="adj" fmla="val 24000"/>
            </a:avLst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737360"/>
            <a:ext cx="2651760" cy="274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554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Escritorio 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08483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Clientes proprios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4688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Processos isolados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285292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Documentos privados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323697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Dados financeiros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172968" y="1554480"/>
            <a:ext cx="26517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0160">
            <a:solidFill>
              <a:srgbClr val="D1E4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172968" y="1554480"/>
            <a:ext cx="2651760" cy="457200"/>
          </a:xfrm>
          <a:prstGeom prst="roundRect">
            <a:avLst>
              <a:gd name="adj" fmla="val 24000"/>
            </a:avLst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172968" y="1737360"/>
            <a:ext cx="2651760" cy="274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64408" y="1554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Escritorio B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10128" y="208483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Clientes proprios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310128" y="24688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Processos isolados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10128" y="285292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Documentos privados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10128" y="323697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Dados financeiros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025896" y="1554480"/>
            <a:ext cx="26517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0160">
            <a:solidFill>
              <a:srgbClr val="D1E4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025896" y="1554480"/>
            <a:ext cx="2651760" cy="457200"/>
          </a:xfrm>
          <a:prstGeom prst="roundRect">
            <a:avLst>
              <a:gd name="adj" fmla="val 24000"/>
            </a:avLst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025896" y="1737360"/>
            <a:ext cx="265176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117336" y="1554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Escritorio C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63056" y="208483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Clientes proprios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163056" y="24688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Processos isolados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163056" y="285292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Documentos privados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163056" y="323697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Dados financeiros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0040" y="3977640"/>
            <a:ext cx="8503920" cy="822960"/>
          </a:xfrm>
          <a:prstGeom prst="roundRect">
            <a:avLst>
              <a:gd name="adj" fmla="val 11111"/>
            </a:avLst>
          </a:prstGeom>
          <a:solidFill>
            <a:srgbClr val="0A2342"/>
          </a:solidFill>
          <a:ln w="12700">
            <a:solidFill>
              <a:srgbClr val="0A234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02920" y="400507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entidade na BD inclui tenant_id. Todas as queries sao filtradas pelo tenant do utilizador autenticado — impossivel aceder a dados de outro escritorio.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0A2342">
              <a:alpha val="60000"/>
            </a:srgbClr>
          </a:solidFill>
          <a:ln w="12700">
            <a:solidFill>
              <a:srgbClr val="0A234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Actual &amp; Roadmap</a:t>
            </a:r>
            <a:endParaRPr lang="en-US" sz="3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esta pronto hoje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850392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Autenticacao e gestao de utilizadores (4 perfis)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709160" y="1097280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completo de Clientes (ficha, procuracao, intake)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completo de Processos (fases, partes, movimentacoes)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709160" y="1783080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com recorrencia, drag &amp; drop e alertas de prazo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de Documentos com armazenamento MinIO (S3)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709160" y="2468880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Financeiro (honorarios e pagamentos)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154680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com KPIs em tempo real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09160" y="3154680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de Parecer Juridico (versionamento e entrega)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3840480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Aplicacao 100% responsiva (mobile, tablet, desktop)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09160" y="3840480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em producao — Docker, HTTPS auto e CI/CD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Roadmap: Proximas Fases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651760" cy="3611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2651760" cy="685800"/>
          </a:xfrm>
          <a:prstGeom prst="roundRect">
            <a:avLst>
              <a:gd name="adj" fmla="val 13333"/>
            </a:avLst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265176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0515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v1.0-v2.8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(Concluido)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Clientes, Processos, Agenda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5146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Documentos, Financeiro, Pareceres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100% responsiva (v2.3)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8862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em producao (v1.8)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72968" y="1051560"/>
            <a:ext cx="2651760" cy="3611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172968" y="1051560"/>
            <a:ext cx="2651760" cy="68580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172968" y="1371600"/>
            <a:ext cx="265176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64408" y="10515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v2.9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(Em Curso)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10128" y="18288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Juizo e origem do processo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310128" y="25146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Decisoes, Factos, Testemunhas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310128" y="32004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 de Documentos no processo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10128" y="38862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Honorario automatico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25896" y="1051560"/>
            <a:ext cx="2651760" cy="3611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025896" y="1051560"/>
            <a:ext cx="2651760" cy="68580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025896" y="1371600"/>
            <a:ext cx="2651760" cy="365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117336" y="10515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(Planeado)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63056" y="18288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Integracao com tribunais CV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163056" y="25146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Assinatura digital de documentos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163056" y="32004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publica para parceiros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163056" y="38862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de facturacao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Proximos Passos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207008"/>
            <a:ext cx="640080" cy="6400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2070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9224" y="1847088"/>
            <a:ext cx="73152" cy="320040"/>
          </a:xfrm>
          <a:prstGeom prst="rect">
            <a:avLst/>
          </a:prstGeom>
          <a:solidFill>
            <a:srgbClr val="D1E4EF"/>
          </a:solidFill>
          <a:ln w="12700">
            <a:solidFill>
              <a:srgbClr val="D1E4E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88720" y="1097280"/>
            <a:ext cx="75895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71600" y="114300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Revisao e Feedback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148132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Analise conjunta das funcionalidades entregues e ajuste as necessidades especificas do escritorio.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167128"/>
            <a:ext cx="640080" cy="6400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21671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9224" y="2807208"/>
            <a:ext cx="73152" cy="320040"/>
          </a:xfrm>
          <a:prstGeom prst="rect">
            <a:avLst/>
          </a:prstGeom>
          <a:solidFill>
            <a:srgbClr val="D1E4EF"/>
          </a:solidFill>
          <a:ln w="12700">
            <a:solidFill>
              <a:srgbClr val="D1E4E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188720" y="2057400"/>
            <a:ext cx="75895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371600" y="210312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de Demonstracao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71600" y="244144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a uma instancia real da plataforma para exploracao livre pelo cliente.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127248"/>
            <a:ext cx="640080" cy="6400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31272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9224" y="3767328"/>
            <a:ext cx="73152" cy="320040"/>
          </a:xfrm>
          <a:prstGeom prst="rect">
            <a:avLst/>
          </a:prstGeom>
          <a:solidFill>
            <a:srgbClr val="D1E4EF"/>
          </a:solidFill>
          <a:ln w="12700">
            <a:solidFill>
              <a:srgbClr val="D1E4E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188720" y="3017520"/>
            <a:ext cx="75895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371600" y="306324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Implementacao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71600" y="340156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Definicao do cronograma, equipa e recursos necessarios para o arranque em producao.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4087368"/>
            <a:ext cx="640080" cy="640080"/>
          </a:xfrm>
          <a:prstGeom prst="ellipse">
            <a:avLst/>
          </a:prstGeom>
          <a:solidFill>
            <a:srgbClr val="0F5D7A"/>
          </a:solidFill>
          <a:ln w="12700">
            <a:solidFill>
              <a:srgbClr val="0F5D7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" y="40873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188720" y="3977640"/>
            <a:ext cx="75895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371600" y="402336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 &amp; Suporte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371600" y="43616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em producao com acompanhamento tecnico e formacao dos utilizadores.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>
              <a:alpha val="15000"/>
            </a:srgbClr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ALCV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0C4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Gestao Juridica Inteligente para Cabo Verde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0" y="3017520"/>
            <a:ext cx="274320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32918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6A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 — Perguntas &amp; Discussao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1424</Words>
  <Application>Microsoft Office PowerPoint</Application>
  <PresentationFormat>Apresentação no Ecrã (16:9)</PresentationFormat>
  <Paragraphs>281</Paragraphs>
  <Slides>21</Slides>
  <Notes>20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ALCV - Apresentacao do Projeto</dc:title>
  <dc:subject>PptxGenJS Presentation</dc:subject>
  <dc:creator>PptxGenJS</dc:creator>
  <cp:lastModifiedBy>NOSi / GAI / PM - Francisco Lopes Horta</cp:lastModifiedBy>
  <cp:revision>3</cp:revision>
  <dcterms:created xsi:type="dcterms:W3CDTF">2026-06-28T11:53:15Z</dcterms:created>
  <dcterms:modified xsi:type="dcterms:W3CDTF">2026-07-07T16:53:52Z</dcterms:modified>
</cp:coreProperties>
</file>